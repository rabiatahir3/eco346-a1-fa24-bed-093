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32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1C40F"/>
                </a:solidFill>
                <a:latin typeface="Calibri"/>
              </a:defRPr>
            </a:pPr>
            <a:r>
              <a:t>DATA VISUALIZATION TECHNIQUES FOR ECONOMISTS (ECO346)</a:t>
            </a:r>
          </a:p>
          <a:p>
            <a:pPr>
              <a:spcAft>
                <a:spcPts val="12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Annual Earnings Distribution &amp; Career Lifecycle in Urban KP</a:t>
            </a:r>
          </a:p>
          <a:p>
            <a:pPr>
              <a:defRPr sz="1550">
                <a:solidFill>
                  <a:srgbClr val="C8D7EB"/>
                </a:solidFill>
                <a:latin typeface="Calibri"/>
              </a:defRPr>
            </a:pPr>
            <a:r>
              <a:t>Empirical Analysis of the PSLM 2019–20 Microdata: Distribution, Makeover &amp; Cross-Language Reproduction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383280"/>
            <a:ext cx="3200400" cy="2926080"/>
          </a:xfrm>
          <a:prstGeom prst="roundRect">
            <a:avLst/>
          </a:prstGeom>
          <a:solidFill>
            <a:srgbClr val="264673"/>
          </a:solidFill>
          <a:ln>
            <a:solidFill>
              <a:srgbClr val="46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200" b="1">
                <a:solidFill>
                  <a:srgbClr val="F1C40F"/>
                </a:solidFill>
              </a:defRPr>
            </a:pPr>
            <a:r>
              <a:t>STUDENT PROFILE</a:t>
            </a:r>
          </a:p>
          <a:p>
            <a:r>
              <a:rPr sz="1000" b="1">
                <a:solidFill>
                  <a:srgbClr val="DCE6F5"/>
                </a:solidFill>
              </a:rPr>
              <a:t>Student Name: </a:t>
            </a:r>
            <a:r>
              <a:rPr sz="1000" b="1">
                <a:solidFill>
                  <a:srgbClr val="FFFFFF"/>
                </a:solidFill>
              </a:rPr>
              <a:t>Rabia Tahir</a:t>
            </a:r>
          </a:p>
          <a:p>
            <a:r>
              <a:rPr sz="1000" b="1">
                <a:solidFill>
                  <a:srgbClr val="DCE6F5"/>
                </a:solidFill>
              </a:rPr>
              <a:t>Registration No: </a:t>
            </a:r>
            <a:r>
              <a:rPr sz="1000" b="0">
                <a:solidFill>
                  <a:srgbClr val="FFFFFF"/>
                </a:solidFill>
              </a:rPr>
              <a:t>FA24-BED-093</a:t>
            </a:r>
          </a:p>
          <a:p>
            <a:r>
              <a:rPr sz="1000" b="1">
                <a:solidFill>
                  <a:srgbClr val="DCE6F5"/>
                </a:solidFill>
              </a:rPr>
              <a:t>Email Address: </a:t>
            </a:r>
            <a:r>
              <a:rPr sz="1000" b="1">
                <a:solidFill>
                  <a:srgbClr val="FFFFFF"/>
                </a:solidFill>
              </a:rPr>
              <a:t>rabii.okiee@gmail.com</a:t>
            </a:r>
          </a:p>
          <a:p>
            <a:r>
              <a:rPr sz="1000" b="1">
                <a:solidFill>
                  <a:srgbClr val="DCE6F5"/>
                </a:solidFill>
              </a:rPr>
              <a:t>Programme / Batch: </a:t>
            </a:r>
            <a:r>
              <a:rPr sz="1000" b="0">
                <a:solidFill>
                  <a:srgbClr val="FFFFFF"/>
                </a:solidFill>
              </a:rPr>
              <a:t>BS Economics with Data Science (FA24-BEDS)</a:t>
            </a:r>
          </a:p>
          <a:p>
            <a:r>
              <a:rPr sz="1000" b="1">
                <a:solidFill>
                  <a:srgbClr val="DCE6F5"/>
                </a:solidFill>
              </a:rPr>
              <a:t>Semester &amp; Section: </a:t>
            </a:r>
            <a:r>
              <a:rPr sz="1000" b="0">
                <a:solidFill>
                  <a:srgbClr val="FFFFFF"/>
                </a:solidFill>
              </a:rPr>
              <a:t>Semester 5 (Section A)</a:t>
            </a:r>
          </a:p>
          <a:p>
            <a:r>
              <a:rPr sz="1000" b="1">
                <a:solidFill>
                  <a:srgbClr val="DCE6F5"/>
                </a:solidFill>
              </a:rPr>
              <a:t>Instructor: </a:t>
            </a:r>
            <a:r>
              <a:rPr sz="1000" b="0">
                <a:solidFill>
                  <a:srgbClr val="FFFFFF"/>
                </a:solidFill>
              </a:rPr>
              <a:t>Dr. Rafi Amir-ud-Din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3383280"/>
            <a:ext cx="3200400" cy="2926080"/>
          </a:xfrm>
          <a:prstGeom prst="roundRect">
            <a:avLst/>
          </a:prstGeom>
          <a:solidFill>
            <a:srgbClr val="264673"/>
          </a:solidFill>
          <a:ln>
            <a:solidFill>
              <a:srgbClr val="46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200" b="1">
                <a:solidFill>
                  <a:srgbClr val="F1C40F"/>
                </a:solidFill>
              </a:defRPr>
            </a:pPr>
            <a:r>
              <a:t>ASSIGNED VARIANT</a:t>
            </a:r>
          </a:p>
          <a:p>
            <a:r>
              <a:rPr sz="1000" b="1">
                <a:solidFill>
                  <a:srgbClr val="DCE6F5"/>
                </a:solidFill>
              </a:rPr>
              <a:t>Rule: </a:t>
            </a:r>
            <a:r>
              <a:rPr sz="1000">
                <a:solidFill>
                  <a:srgbClr val="FFFFFF"/>
                </a:solidFill>
              </a:rPr>
              <a:t>Last 2 digits mod 8 (93 % 8 = 5)</a:t>
            </a:r>
          </a:p>
          <a:p>
            <a:r>
              <a:rPr sz="1000" b="1">
                <a:solidFill>
                  <a:srgbClr val="DCE6F5"/>
                </a:solidFill>
              </a:rPr>
              <a:t>Variant Number: </a:t>
            </a:r>
            <a:r>
              <a:rPr sz="1000">
                <a:solidFill>
                  <a:srgbClr val="FFFFFF"/>
                </a:solidFill>
              </a:rPr>
              <a:t>Variant 5</a:t>
            </a:r>
          </a:p>
          <a:p>
            <a:r>
              <a:rPr sz="1000" b="1">
                <a:solidFill>
                  <a:srgbClr val="DCE6F5"/>
                </a:solidFill>
              </a:rPr>
              <a:t>Region / Sector: </a:t>
            </a:r>
            <a:r>
              <a:rPr sz="1000">
                <a:solidFill>
                  <a:srgbClr val="FFFFFF"/>
                </a:solidFill>
              </a:rPr>
              <a:t>KP Urban (Khyber Pakhtunkhwa)</a:t>
            </a:r>
          </a:p>
          <a:p>
            <a:r>
              <a:rPr sz="1000" b="1">
                <a:solidFill>
                  <a:srgbClr val="DCE6F5"/>
                </a:solidFill>
              </a:rPr>
              <a:t>Filter Codes: </a:t>
            </a:r>
            <a:r>
              <a:rPr sz="1000">
                <a:solidFill>
                  <a:srgbClr val="FFFFFF"/>
                </a:solidFill>
              </a:rPr>
              <a:t>prov_code == 1, urban_rural == 2</a:t>
            </a:r>
          </a:p>
          <a:p>
            <a:r>
              <a:rPr sz="1000" b="1">
                <a:solidFill>
                  <a:srgbClr val="DCE6F5"/>
                </a:solidFill>
              </a:rPr>
              <a:t>Sample Restriction: </a:t>
            </a:r>
            <a:r>
              <a:rPr sz="1000">
                <a:solidFill>
                  <a:srgbClr val="FFFFFF"/>
                </a:solidFill>
              </a:rPr>
              <a:t>Aged 15–64, earn_annual &gt; 0</a:t>
            </a:r>
          </a:p>
          <a:p>
            <a:r>
              <a:rPr sz="1000" b="1">
                <a:solidFill>
                  <a:srgbClr val="DCE6F5"/>
                </a:solidFill>
              </a:rPr>
              <a:t>Total Earners: </a:t>
            </a:r>
            <a:r>
              <a:rPr sz="1000">
                <a:solidFill>
                  <a:srgbClr val="FFFFFF"/>
                </a:solidFill>
              </a:rPr>
              <a:t>N = 678 individuals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3383280"/>
            <a:ext cx="3200400" cy="2926080"/>
          </a:xfrm>
          <a:prstGeom prst="roundRect">
            <a:avLst/>
          </a:prstGeom>
          <a:solidFill>
            <a:srgbClr val="264673"/>
          </a:solidFill>
          <a:ln>
            <a:solidFill>
              <a:srgbClr val="46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200" b="1">
                <a:solidFill>
                  <a:srgbClr val="F1C40F"/>
                </a:solidFill>
              </a:defRPr>
            </a:pPr>
            <a:r>
              <a:t>DELIVERABLES SUMMARY</a:t>
            </a:r>
          </a:p>
          <a:p>
            <a:r>
              <a:rPr sz="1000">
                <a:solidFill>
                  <a:srgbClr val="FFFFFF"/>
                </a:solidFill>
              </a:rPr>
              <a:t>Q1: Public GitHub Repo (6 clean commits)</a:t>
            </a:r>
          </a:p>
          <a:p>
            <a:r>
              <a:rPr sz="1000">
                <a:solidFill>
                  <a:srgbClr val="FFFFFF"/>
                </a:solidFill>
              </a:rPr>
              <a:t>Q2: Weighted Log Density Distribution (R)</a:t>
            </a:r>
          </a:p>
          <a:p>
            <a:r>
              <a:rPr sz="1000">
                <a:solidFill>
                  <a:srgbClr val="FFFFFF"/>
                </a:solidFill>
              </a:rPr>
              <a:t>Q3: Age-Earnings Relationship Redesign (R)</a:t>
            </a:r>
          </a:p>
          <a:p>
            <a:r>
              <a:rPr sz="1000">
                <a:solidFill>
                  <a:srgbClr val="FFFFFF"/>
                </a:solidFill>
              </a:rPr>
              <a:t>Q4: Visual Makeover (Default vs Redesign)</a:t>
            </a:r>
          </a:p>
          <a:p>
            <a:r>
              <a:rPr sz="1000">
                <a:solidFill>
                  <a:srgbClr val="FFFFFF"/>
                </a:solidFill>
              </a:rPr>
              <a:t>Q5: Exact Reproduction in Python (Matplotlib)</a:t>
            </a:r>
          </a:p>
          <a:p>
            <a:r>
              <a:rPr sz="1000">
                <a:solidFill>
                  <a:srgbClr val="FFFFFF"/>
                </a:solidFill>
              </a:rPr>
              <a:t>Q6: Executive Briefing Deck (4 Slides)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534F"/>
                </a:solidFill>
                <a:latin typeface="Calibri"/>
              </a:defRPr>
            </a:pPr>
            <a:r>
              <a:t>ECO346 · DATA VISUALIZATION TECHNIQUES FOR ECONOMISTS</a:t>
            </a:r>
          </a:p>
          <a:p>
            <a:pPr>
              <a:defRPr sz="2200" b="1">
                <a:solidFill>
                  <a:srgbClr val="1B365D"/>
                </a:solidFill>
                <a:latin typeface="Calibri"/>
              </a:defRPr>
            </a:pPr>
            <a:r>
              <a:t>Question 2: Annual Earnings Distribution in Urban KP</a:t>
            </a:r>
          </a:p>
        </p:txBody>
      </p:sp>
      <p:pic>
        <p:nvPicPr>
          <p:cNvPr id="3" name="Picture 2" descr="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21355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589520" y="1371600"/>
            <a:ext cx="3931920" cy="4937760"/>
          </a:xfrm>
          <a:prstGeom prst="roundRect">
            <a:avLst/>
          </a:prstGeom>
          <a:solidFill>
            <a:srgbClr val="F5F7FA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1B365D"/>
                </a:solidFill>
              </a:defRPr>
            </a:pPr>
            <a:r>
              <a:t>SUMMARY OF FORM METRICS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333333"/>
                </a:solidFill>
              </a:rPr>
              <a:t>• Total Earners Sample: </a:t>
            </a:r>
            <a:r>
              <a:rPr sz="1000" b="0">
                <a:solidFill>
                  <a:srgbClr val="1B365D"/>
                </a:solidFill>
              </a:rPr>
              <a:t>678 working individuals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333333"/>
                </a:solidFill>
              </a:rPr>
              <a:t>• Excluded Outliers (&lt;Rs 10k): </a:t>
            </a:r>
            <a:r>
              <a:rPr sz="1000" b="0">
                <a:solidFill>
                  <a:srgbClr val="1B365D"/>
                </a:solidFill>
              </a:rPr>
              <a:t>1 earner (Rs 5,000 at age 56)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333333"/>
                </a:solidFill>
              </a:rPr>
              <a:t>• Weighted Median: </a:t>
            </a:r>
            <a:r>
              <a:rPr sz="1000" b="0">
                <a:solidFill>
                  <a:srgbClr val="1B365D"/>
                </a:solidFill>
              </a:rPr>
              <a:t>Rs 240,000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333333"/>
                </a:solidFill>
              </a:rPr>
              <a:t>• Unweighted Median: </a:t>
            </a:r>
            <a:r>
              <a:rPr sz="1000" b="0">
                <a:solidFill>
                  <a:srgbClr val="1B365D"/>
                </a:solidFill>
              </a:rPr>
              <a:t>Rs 240,000 (Exact match)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333333"/>
                </a:solidFill>
              </a:rPr>
              <a:t>• Weighted 10th Percentile (P10): </a:t>
            </a:r>
            <a:r>
              <a:rPr sz="1000" b="0">
                <a:solidFill>
                  <a:srgbClr val="1B365D"/>
                </a:solidFill>
              </a:rPr>
              <a:t>Rs 108,000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333333"/>
                </a:solidFill>
              </a:rPr>
              <a:t>• Weighted 90th Percentile (P90): </a:t>
            </a:r>
            <a:r>
              <a:rPr sz="1000" b="0">
                <a:solidFill>
                  <a:srgbClr val="1B365D"/>
                </a:solidFill>
              </a:rPr>
              <a:t>Rs 588,000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333333"/>
                </a:solidFill>
              </a:rPr>
              <a:t>• Decile Ratio (P90 / P10): </a:t>
            </a:r>
            <a:r>
              <a:rPr sz="1000" b="0">
                <a:solidFill>
                  <a:srgbClr val="1B365D"/>
                </a:solidFill>
              </a:rPr>
              <a:t>5.44 (Top decile earns 5.4x)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D9534F"/>
                </a:solidFill>
              </a:defRPr>
            </a:pPr>
            <a:r>
              <a:t>ECONOMIC INTERPRETATION (F4)</a:t>
            </a:r>
          </a:p>
          <a:p>
            <a:pPr>
              <a:defRPr sz="950">
                <a:solidFill>
                  <a:srgbClr val="333333"/>
                </a:solidFill>
              </a:defRPr>
            </a:pPr>
            <a:r>
              <a:t>The distribution is unimodal and roughly log-normal, peaking between Rs 200,000 and Rs 300,000 with upper-tail skewness. The weighted and unweighted medians are identical at Rs 240,000 because household sampling weights are distributed symmetrically near the center of the earnings distribution, placing cumulative 50% mass at the same discrete wage mode.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534F"/>
                </a:solidFill>
                <a:latin typeface="Calibri"/>
              </a:defRPr>
            </a:pPr>
            <a:r>
              <a:t>ECO346 · DATA VISUALIZATION TECHNIQUES FOR ECONOMISTS</a:t>
            </a:r>
          </a:p>
          <a:p>
            <a:pPr>
              <a:defRPr sz="2200" b="1">
                <a:solidFill>
                  <a:srgbClr val="1B365D"/>
                </a:solidFill>
                <a:latin typeface="Calibri"/>
              </a:defRPr>
            </a:pPr>
            <a:r>
              <a:t>Question 4: The Makeover — Default vs. Redesign</a:t>
            </a:r>
          </a:p>
        </p:txBody>
      </p:sp>
      <p:pic>
        <p:nvPicPr>
          <p:cNvPr id="3" name="Picture 2" descr="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212080" cy="33506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29768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D9534F"/>
                </a:solidFill>
              </a:defRPr>
            </a:pPr>
            <a:r>
              <a:t>R DEFAULT (ggplot2 untouched)</a:t>
            </a:r>
          </a:p>
        </p:txBody>
      </p:sp>
      <p:pic>
        <p:nvPicPr>
          <p:cNvPr id="5" name="Picture 4" descr="relations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212080" cy="33357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429768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16A085"/>
                </a:solidFill>
              </a:defRPr>
            </a:pPr>
            <a:r>
              <a:t>REDESIGN (Principled Data Visualization)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698480" cy="1737360"/>
          </a:xfrm>
          <a:prstGeom prst="roundRect">
            <a:avLst/>
          </a:prstGeom>
          <a:solidFill>
            <a:srgbClr val="F5F7FA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defRPr sz="1100" b="1">
                <a:solidFill>
                  <a:srgbClr val="1B365D"/>
                </a:solidFill>
              </a:defRPr>
            </a:pPr>
            <a:r>
              <a:t>CORE DESIGN PRINCIPLES &amp; VISUAL TRADE-OFF</a:t>
            </a:r>
          </a:p>
          <a:p>
            <a:pPr>
              <a:defRPr sz="950">
                <a:solidFill>
                  <a:srgbClr val="333333"/>
                </a:solidFill>
              </a:defRPr>
            </a:pPr>
            <a:r>
              <a:t>1. Logarithmic Vertical Scale (Perceptual Channel Resolution): The default linear scale crushes 95% of earners against the baseline due to positive skewness. Logarithmic scaling normalizes proportional earnings variance across income brackets.</a:t>
            </a:r>
            <a:br/>
            <a:r>
              <a:t>2. Jittering (±0.35) &amp; Alpha (0.35) (Overplotting &amp; Data–Ink): Integer ages produce artificial vertical stripes; horizontal jitter and transparency reveal true bivariate density while preserving accurate age measurements.</a:t>
            </a:r>
            <a:br/>
            <a:r>
              <a:t>3. Weighted Conditional Means &amp; Thin Markers: Extracts the lifecycle signal from noise; hollow marker distinguishes small-sample variance (age 60-64).</a:t>
            </a:r>
            <a:br/>
            <a:r>
              <a:t>• What the default shows that redesign hides: Default linear coordinates display absolute rupee distances (raw wealth gap), which log compression visually attenuates.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534F"/>
                </a:solidFill>
                <a:latin typeface="Calibri"/>
              </a:defRPr>
            </a:pPr>
            <a:r>
              <a:t>ECO346 · DATA VISUALIZATION TECHNIQUES FOR ECONOMISTS</a:t>
            </a:r>
          </a:p>
          <a:p>
            <a:pPr>
              <a:defRPr sz="2200" b="1">
                <a:solidFill>
                  <a:srgbClr val="1B365D"/>
                </a:solidFill>
                <a:latin typeface="Calibri"/>
              </a:defRPr>
            </a:pPr>
            <a:r>
              <a:t>Questions 3 &amp; 5: The Lifecycle Curve &amp; Cross-Language Reproduction</a:t>
            </a:r>
          </a:p>
        </p:txBody>
      </p:sp>
      <p:pic>
        <p:nvPicPr>
          <p:cNvPr id="3" name="Picture 2" descr="relationship_pyth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852160" cy="381716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858000" y="1371600"/>
            <a:ext cx="4572000" cy="5029200"/>
          </a:xfrm>
          <a:prstGeom prst="roundRect">
            <a:avLst/>
          </a:prstGeom>
          <a:solidFill>
            <a:srgbClr val="F5F7FA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400"/>
              </a:spcAft>
              <a:defRPr sz="1200" b="1">
                <a:solidFill>
                  <a:srgbClr val="D9534F"/>
                </a:solidFill>
              </a:defRPr>
            </a:pPr>
            <a:r>
              <a:t>THE ONE MOST IMPORTANT FINDING</a:t>
            </a:r>
          </a:p>
          <a:p>
            <a:pPr>
              <a:spcAft>
                <a:spcPts val="600"/>
              </a:spcAft>
              <a:defRPr sz="950">
                <a:solidFill>
                  <a:srgbClr val="333333"/>
                </a:solidFill>
              </a:defRPr>
            </a:pPr>
            <a:r>
              <a:t>• Late-Career Peak: Earnings climb monotonically from labor entry (Rs 152k at 15–19) to peak at ages 55–59 (Rs 461,593), reflecting cumulative experience and seniority premiums in urban KP.</a:t>
            </a:r>
            <a:br/>
            <a:r>
              <a:t>• Retirement Precipice: Post-60 earnings drop precipitously by 56% to Rs 203,724 in band 60–64 (hollow marker, N=15 thin band), driven by physical health attrition, transition to lower-hour self-employment, and lack of universal pension coverage.</a:t>
            </a:r>
            <a:br/>
            <a:r>
              <a:t>• Cross-Sectional Limitation: The figure cannot distinguish genuine individual lifecycle aging from generational cohort effects (e.g., younger cohorts having higher urban educational attainment) or survivor bias.</a:t>
            </a:r>
          </a:p>
          <a:p>
            <a:pPr>
              <a:spcAft>
                <a:spcPts val="200"/>
              </a:spcAft>
              <a:defRPr sz="1100" b="1">
                <a:solidFill>
                  <a:srgbClr val="1B365D"/>
                </a:solidFill>
              </a:defRPr>
            </a:pPr>
            <a:r>
              <a:t>PYTHON REPLICATION VERIFICATION (Q5)</a:t>
            </a:r>
          </a:p>
          <a:p>
            <a:pPr>
              <a:defRPr sz="919">
                <a:solidFill>
                  <a:srgbClr val="333333"/>
                </a:solidFill>
              </a:defRPr>
            </a:pPr>
            <a:r>
              <a:t>• Band 25–29 Mean: Rs 289,679 (R) == Rs 289,679 (Python) — 100% Exact to the Rupee!</a:t>
            </a:r>
            <a:br/>
            <a:r>
              <a:t>• Peak Band 55–59: Rs 461,593 (R) == Rs 461,593 (Python)</a:t>
            </a:r>
            <a:br/>
            <a:r>
              <a:t>• Default Differences: Matplotlib defaults to no jittering, linear scale, and opaque markers. Explicitly configured horizontal uniform jitter (±0.35), log10 y-scale with rupee tick formatters, and imported dvte.mplstyle to match R's visual grammar.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